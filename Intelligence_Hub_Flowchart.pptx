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0" autoAdjust="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866" y="25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F09A74-95BF-4563-942B-5E4415339FA8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208A87-82FF-42DB-86CF-63187E5BAE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26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208A87-82FF-42DB-86CF-63187E5BAE6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1560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Intelligence Hub - Multi-Agent Bid Evaluation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788026" y="1102659"/>
            <a:ext cx="1828800" cy="914400"/>
          </a:xfrm>
          <a:prstGeom prst="roundRect">
            <a:avLst/>
          </a:prstGeom>
          <a:solidFill>
            <a:srgbClr val="1E3A8A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>
              <a:defRPr sz="1800" b="1">
                <a:solidFill>
                  <a:srgbClr val="FBBF24"/>
                </a:solidFill>
              </a:defRPr>
            </a:pPr>
            <a:r>
              <a:t>User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Upload Bid PDF</a:t>
            </a:r>
            <a:br/>
            <a:r>
              <a:t>+ Supplier Details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645920"/>
            <a:ext cx="2286000" cy="914400"/>
          </a:xfrm>
          <a:prstGeom prst="roundRect">
            <a:avLst/>
          </a:prstGeom>
          <a:solidFill>
            <a:srgbClr val="1E3A8A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>
              <a:defRPr sz="1800" b="1">
                <a:solidFill>
                  <a:srgbClr val="FBBF24"/>
                </a:solidFill>
              </a:defRPr>
            </a:pPr>
            <a:r>
              <a:t>Orchestrator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Coordinates</a:t>
            </a:r>
            <a:br/>
            <a:r>
              <a:t>All Agents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200400"/>
            <a:ext cx="2011680" cy="1097280"/>
          </a:xfrm>
          <a:prstGeom prst="roundRect">
            <a:avLst/>
          </a:prstGeom>
          <a:solidFill>
            <a:srgbClr val="1E3A8A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>
              <a:defRPr sz="1800" b="1">
                <a:solidFill>
                  <a:srgbClr val="FBBF24"/>
                </a:solidFill>
              </a:defRPr>
            </a:pPr>
            <a:r>
              <a:t>Technical</a:t>
            </a:r>
            <a:br/>
            <a:r>
              <a:t>Agent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PDF Analysis</a:t>
            </a:r>
            <a:br/>
            <a:r>
              <a:t>SOP Comparison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3200400"/>
            <a:ext cx="2011680" cy="1097280"/>
          </a:xfrm>
          <a:prstGeom prst="roundRect">
            <a:avLst/>
          </a:prstGeom>
          <a:solidFill>
            <a:srgbClr val="1E3A8A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>
              <a:defRPr sz="1800" b="1">
                <a:solidFill>
                  <a:srgbClr val="FBBF24"/>
                </a:solidFill>
              </a:defRPr>
            </a:pPr>
            <a:r>
              <a:t>Risk</a:t>
            </a:r>
            <a:br/>
            <a:r>
              <a:t>Agent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Financial/ESG</a:t>
            </a:r>
            <a:br/>
            <a:r>
              <a:t>Red Flags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60" y="3200400"/>
            <a:ext cx="2011680" cy="1097280"/>
          </a:xfrm>
          <a:prstGeom prst="roundRect">
            <a:avLst/>
          </a:prstGeom>
          <a:solidFill>
            <a:srgbClr val="1E3A8A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>
              <a:defRPr sz="1800" b="1">
                <a:solidFill>
                  <a:srgbClr val="FBBF24"/>
                </a:solidFill>
              </a:defRPr>
            </a:pPr>
            <a:r>
              <a:t>Financial</a:t>
            </a:r>
            <a:br/>
            <a:r>
              <a:t>Agent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Should-Cost</a:t>
            </a:r>
            <a:br/>
            <a:r>
              <a:t>Model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4846320"/>
            <a:ext cx="1645920" cy="640080"/>
          </a:xfrm>
          <a:prstGeom prst="roundRect">
            <a:avLst/>
          </a:prstGeom>
          <a:solidFill>
            <a:srgbClr val="334155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Gemini RAG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PDF Extraction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4846320"/>
            <a:ext cx="1645920" cy="640080"/>
          </a:xfrm>
          <a:prstGeom prst="roundRect">
            <a:avLst/>
          </a:prstGeom>
          <a:solidFill>
            <a:srgbClr val="334155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SOP</a:t>
            </a:r>
            <a:br/>
            <a:r>
              <a:t>Parameters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Compliance Rules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5943600"/>
            <a:ext cx="2286000" cy="731520"/>
          </a:xfrm>
          <a:prstGeom prst="roundRect">
            <a:avLst/>
          </a:prstGeom>
          <a:solidFill>
            <a:srgbClr val="1E3A8A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>
              <a:defRPr sz="1800" b="1">
                <a:solidFill>
                  <a:srgbClr val="FBBF24"/>
                </a:solidFill>
              </a:defRPr>
            </a:pPr>
            <a:r>
              <a:t>Score Aggregation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40% Tech + 30% Risk</a:t>
            </a:r>
            <a:br/>
            <a:r>
              <a:t>+ 30% Financial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200400" cy="1097280"/>
          </a:xfrm>
          <a:prstGeom prst="roundRect">
            <a:avLst/>
          </a:prstGeom>
          <a:solidFill>
            <a:srgbClr val="1E3A8A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>
              <a:defRPr sz="1800" b="1">
                <a:solidFill>
                  <a:srgbClr val="FBBF24"/>
                </a:solidFill>
              </a:defRPr>
            </a:pPr>
            <a:r>
              <a:t>Executive</a:t>
            </a:r>
            <a:br/>
            <a:r>
              <a:t>Summary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Natural Language</a:t>
            </a:r>
            <a:br/>
            <a:r>
              <a:t>Recommendation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3200400"/>
            <a:ext cx="3200400" cy="1097280"/>
          </a:xfrm>
          <a:prstGeom prst="roundRect">
            <a:avLst/>
          </a:prstGeom>
          <a:solidFill>
            <a:srgbClr val="1E3A8A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>
              <a:defRPr sz="1800" b="1">
                <a:solidFill>
                  <a:srgbClr val="FBBF24"/>
                </a:solidFill>
              </a:defRPr>
            </a:pPr>
            <a:r>
              <a:t>Final</a:t>
            </a:r>
            <a:br/>
            <a:r>
              <a:t>Recommendation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APPROVE/REJECT</a:t>
            </a:r>
            <a:br/>
            <a:r>
              <a:t>+ Next Steps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4846320"/>
            <a:ext cx="3200400" cy="731520"/>
          </a:xfrm>
          <a:prstGeom prst="roundRect">
            <a:avLst/>
          </a:prstGeom>
          <a:solidFill>
            <a:srgbClr val="1E3A8A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>
              <a:defRPr sz="1800" b="1">
                <a:solidFill>
                  <a:srgbClr val="FBBF24"/>
                </a:solidFill>
              </a:defRPr>
            </a:pPr>
            <a:r>
              <a:t>Compliance Log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GxP Audit Trail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31920" y="4846320"/>
            <a:ext cx="1645920" cy="640080"/>
          </a:xfrm>
          <a:prstGeom prst="roundRect">
            <a:avLst/>
          </a:prstGeom>
          <a:solidFill>
            <a:srgbClr val="334155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Commodity</a:t>
            </a:r>
            <a:br/>
            <a:r>
              <a:t>Prices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Fixed Constants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03120" y="4846320"/>
            <a:ext cx="1645920" cy="640080"/>
          </a:xfrm>
          <a:prstGeom prst="roundRect">
            <a:avLst/>
          </a:prstGeom>
          <a:solidFill>
            <a:srgbClr val="334155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Mock Risk DB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Supplier Data</a:t>
            </a:r>
          </a:p>
        </p:txBody>
      </p:sp>
      <p:cxnSp>
        <p:nvCxnSpPr>
          <p:cNvPr id="17" name="Connector 16"/>
          <p:cNvCxnSpPr>
            <a:cxnSpLocks/>
            <a:stCxn id="5" idx="3"/>
            <a:endCxn id="4" idx="2"/>
          </p:cNvCxnSpPr>
          <p:nvPr/>
        </p:nvCxnSpPr>
        <p:spPr>
          <a:xfrm flipV="1">
            <a:off x="5486400" y="2017059"/>
            <a:ext cx="1216026" cy="86061"/>
          </a:xfrm>
          <a:prstGeom prst="line">
            <a:avLst/>
          </a:prstGeom>
          <a:ln w="3810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1463040" y="2560320"/>
            <a:ext cx="2880360" cy="640080"/>
          </a:xfrm>
          <a:prstGeom prst="line">
            <a:avLst/>
          </a:prstGeom>
          <a:ln w="3810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3931920" y="2560320"/>
            <a:ext cx="411480" cy="640080"/>
          </a:xfrm>
          <a:prstGeom prst="line">
            <a:avLst/>
          </a:prstGeom>
          <a:ln w="3810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343400" y="2560320"/>
            <a:ext cx="2057400" cy="640080"/>
          </a:xfrm>
          <a:prstGeom prst="line">
            <a:avLst/>
          </a:prstGeom>
          <a:ln w="3810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097280" y="4297680"/>
            <a:ext cx="91440" cy="548640"/>
          </a:xfrm>
          <a:prstGeom prst="line">
            <a:avLst/>
          </a:prstGeom>
          <a:ln w="3810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2926080" y="4297680"/>
            <a:ext cx="1005840" cy="548640"/>
          </a:xfrm>
          <a:prstGeom prst="line">
            <a:avLst/>
          </a:prstGeom>
          <a:ln w="3810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>
            <a:cxnSpLocks/>
            <a:stCxn id="6" idx="2"/>
          </p:cNvCxnSpPr>
          <p:nvPr/>
        </p:nvCxnSpPr>
        <p:spPr>
          <a:xfrm>
            <a:off x="1463040" y="4297680"/>
            <a:ext cx="1828800" cy="2057400"/>
          </a:xfrm>
          <a:prstGeom prst="line">
            <a:avLst/>
          </a:prstGeom>
          <a:ln w="3810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4754880" y="4297680"/>
            <a:ext cx="1645920" cy="548640"/>
          </a:xfrm>
          <a:prstGeom prst="line">
            <a:avLst/>
          </a:prstGeom>
          <a:ln w="38100">
            <a:solidFill>
              <a:srgbClr val="FFC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463040" y="4297680"/>
            <a:ext cx="5120640" cy="548640"/>
          </a:xfrm>
          <a:prstGeom prst="line">
            <a:avLst/>
          </a:prstGeom>
          <a:ln w="3810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931920" y="4297680"/>
            <a:ext cx="411480" cy="1645920"/>
          </a:xfrm>
          <a:prstGeom prst="line">
            <a:avLst/>
          </a:prstGeom>
          <a:ln w="3810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5029200" y="4297680"/>
            <a:ext cx="1371600" cy="1645920"/>
          </a:xfrm>
          <a:prstGeom prst="line">
            <a:avLst/>
          </a:prstGeom>
          <a:ln w="38100">
            <a:solidFill>
              <a:srgbClr val="FFC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5486400" y="2194560"/>
            <a:ext cx="2560320" cy="4114800"/>
          </a:xfrm>
          <a:prstGeom prst="line">
            <a:avLst/>
          </a:prstGeom>
          <a:ln w="3810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5486400" y="3749039"/>
            <a:ext cx="2560320" cy="2560321"/>
          </a:xfrm>
          <a:prstGeom prst="line">
            <a:avLst/>
          </a:prstGeom>
          <a:ln w="3810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5486400" y="5212080"/>
            <a:ext cx="2560320" cy="1097280"/>
          </a:xfrm>
          <a:prstGeom prst="line">
            <a:avLst/>
          </a:prstGeom>
          <a:ln w="3810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>
            <a:cxnSpLocks/>
            <a:endCxn id="4" idx="2"/>
          </p:cNvCxnSpPr>
          <p:nvPr/>
        </p:nvCxnSpPr>
        <p:spPr>
          <a:xfrm flipH="1" flipV="1">
            <a:off x="6702426" y="2017059"/>
            <a:ext cx="1344294" cy="177501"/>
          </a:xfrm>
          <a:prstGeom prst="line">
            <a:avLst/>
          </a:prstGeom>
          <a:ln w="3810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788026" y="6258261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CBD5E1"/>
                </a:solidFill>
              </a:defRPr>
            </a:pPr>
            <a:r>
              <a:rPr dirty="0"/>
              <a:t>⚡ Processing Time: ~10-15 seconds  |  🔒 </a:t>
            </a:r>
            <a:r>
              <a:rPr dirty="0" err="1"/>
              <a:t>GxP</a:t>
            </a:r>
            <a:r>
              <a:rPr dirty="0"/>
              <a:t> Compliant  |  📊 Weighted Scoring: 40/30/30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7EC2FE-A8C4-E720-EA94-3F489D1EB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AE4CA7-F507-5698-F335-7F4B058E13EA}"/>
              </a:ext>
            </a:extLst>
          </p:cNvPr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Intelligence Hub - Multi-Agent Bid Evaluation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EB47B4-CB5D-1F4F-7062-950C88CEFDB4}"/>
              </a:ext>
            </a:extLst>
          </p:cNvPr>
          <p:cNvSpPr/>
          <p:nvPr/>
        </p:nvSpPr>
        <p:spPr>
          <a:xfrm>
            <a:off x="457200" y="1005840"/>
            <a:ext cx="11274552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02C8F3D-8FE7-1D0E-129D-4E281B4723E0}"/>
              </a:ext>
            </a:extLst>
          </p:cNvPr>
          <p:cNvSpPr/>
          <p:nvPr/>
        </p:nvSpPr>
        <p:spPr>
          <a:xfrm>
            <a:off x="5788026" y="1102659"/>
            <a:ext cx="1828800" cy="731520"/>
          </a:xfrm>
          <a:prstGeom prst="roundRect">
            <a:avLst/>
          </a:prstGeom>
          <a:solidFill>
            <a:srgbClr val="1E3A8A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>
              <a:defRPr sz="1800" b="1">
                <a:solidFill>
                  <a:srgbClr val="FBBF24"/>
                </a:solidFill>
              </a:defRPr>
            </a:pPr>
            <a:r>
              <a:t>User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Upload Bid PDF</a:t>
            </a:r>
            <a:br/>
            <a:r>
              <a:t>+ Supplier Details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86740B3-16EC-5C7E-BE77-A0E42109F441}"/>
              </a:ext>
            </a:extLst>
          </p:cNvPr>
          <p:cNvSpPr/>
          <p:nvPr/>
        </p:nvSpPr>
        <p:spPr>
          <a:xfrm>
            <a:off x="3200400" y="1645920"/>
            <a:ext cx="2286000" cy="914400"/>
          </a:xfrm>
          <a:prstGeom prst="roundRect">
            <a:avLst/>
          </a:prstGeom>
          <a:solidFill>
            <a:srgbClr val="1E3A8A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>
              <a:defRPr sz="1800" b="1">
                <a:solidFill>
                  <a:srgbClr val="FBBF24"/>
                </a:solidFill>
              </a:defRPr>
            </a:pPr>
            <a:r>
              <a:t>Orchestrator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Coordinates</a:t>
            </a:r>
            <a:br/>
            <a:r>
              <a:t>All Agents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F6A812D-A5BA-D160-C3D5-39E662ECC65F}"/>
              </a:ext>
            </a:extLst>
          </p:cNvPr>
          <p:cNvSpPr/>
          <p:nvPr/>
        </p:nvSpPr>
        <p:spPr>
          <a:xfrm>
            <a:off x="457200" y="3200400"/>
            <a:ext cx="2011680" cy="1097280"/>
          </a:xfrm>
          <a:prstGeom prst="roundRect">
            <a:avLst/>
          </a:prstGeom>
          <a:solidFill>
            <a:srgbClr val="1E3A8A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>
              <a:defRPr sz="1800" b="1">
                <a:solidFill>
                  <a:srgbClr val="FBBF24"/>
                </a:solidFill>
              </a:defRPr>
            </a:pPr>
            <a:r>
              <a:t>Technical</a:t>
            </a:r>
            <a:br/>
            <a:r>
              <a:t>Agent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PDF Analysis</a:t>
            </a:r>
            <a:br/>
            <a:r>
              <a:t>SOP Comparison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97D3CF3-1EDC-8775-FC2F-AE97254E0640}"/>
              </a:ext>
            </a:extLst>
          </p:cNvPr>
          <p:cNvSpPr/>
          <p:nvPr/>
        </p:nvSpPr>
        <p:spPr>
          <a:xfrm>
            <a:off x="2926080" y="3200400"/>
            <a:ext cx="2011680" cy="1097280"/>
          </a:xfrm>
          <a:prstGeom prst="roundRect">
            <a:avLst/>
          </a:prstGeom>
          <a:solidFill>
            <a:srgbClr val="1E3A8A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>
              <a:defRPr sz="1800" b="1">
                <a:solidFill>
                  <a:srgbClr val="FBBF24"/>
                </a:solidFill>
              </a:defRPr>
            </a:pPr>
            <a:r>
              <a:t>Risk</a:t>
            </a:r>
            <a:br/>
            <a:r>
              <a:t>Agent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Financial/ESG</a:t>
            </a:r>
            <a:br/>
            <a:r>
              <a:t>Red Flags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915995D-4323-3ED5-6B65-EDB95BCBCF28}"/>
              </a:ext>
            </a:extLst>
          </p:cNvPr>
          <p:cNvSpPr/>
          <p:nvPr/>
        </p:nvSpPr>
        <p:spPr>
          <a:xfrm>
            <a:off x="5394960" y="3200400"/>
            <a:ext cx="2011680" cy="1097280"/>
          </a:xfrm>
          <a:prstGeom prst="roundRect">
            <a:avLst/>
          </a:prstGeom>
          <a:solidFill>
            <a:srgbClr val="1E3A8A"/>
          </a:solidFill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>
              <a:defRPr sz="1800" b="1">
                <a:solidFill>
                  <a:srgbClr val="FBBF24"/>
                </a:solidFill>
              </a:defRPr>
            </a:pPr>
            <a:r>
              <a:t>Financial</a:t>
            </a:r>
            <a:br/>
            <a:r>
              <a:t>Agent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Should-Cost</a:t>
            </a:r>
            <a:br/>
            <a:r>
              <a:t>Model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32A73B7-E108-C1D1-35D2-5219CB39B576}"/>
              </a:ext>
            </a:extLst>
          </p:cNvPr>
          <p:cNvSpPr/>
          <p:nvPr/>
        </p:nvSpPr>
        <p:spPr>
          <a:xfrm>
            <a:off x="274320" y="4846320"/>
            <a:ext cx="1645920" cy="640080"/>
          </a:xfrm>
          <a:prstGeom prst="roundRect">
            <a:avLst/>
          </a:prstGeom>
          <a:solidFill>
            <a:srgbClr val="334155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Gemini RAG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PDF Extraction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97F80AE-BC7D-88B7-0DAF-A6120378527B}"/>
              </a:ext>
            </a:extLst>
          </p:cNvPr>
          <p:cNvSpPr/>
          <p:nvPr/>
        </p:nvSpPr>
        <p:spPr>
          <a:xfrm>
            <a:off x="2114550" y="4854388"/>
            <a:ext cx="1645920" cy="640080"/>
          </a:xfrm>
          <a:prstGeom prst="roundRect">
            <a:avLst/>
          </a:prstGeom>
          <a:solidFill>
            <a:srgbClr val="334155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SOP</a:t>
            </a:r>
            <a:br/>
            <a:r>
              <a:t>Parameters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Compliance Rules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CECC220-637E-9116-5BA0-EFD90F41509F}"/>
              </a:ext>
            </a:extLst>
          </p:cNvPr>
          <p:cNvSpPr/>
          <p:nvPr/>
        </p:nvSpPr>
        <p:spPr>
          <a:xfrm>
            <a:off x="3200400" y="5943600"/>
            <a:ext cx="2286000" cy="731520"/>
          </a:xfrm>
          <a:prstGeom prst="roundRect">
            <a:avLst/>
          </a:prstGeom>
          <a:solidFill>
            <a:srgbClr val="1E3A8A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>
              <a:defRPr sz="1800" b="1">
                <a:solidFill>
                  <a:srgbClr val="FBBF24"/>
                </a:solidFill>
              </a:defRPr>
            </a:pPr>
            <a:r>
              <a:t>Score Aggregation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40% Tech + 30% Risk</a:t>
            </a:r>
            <a:br/>
            <a:r>
              <a:t>+ 30% Financial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F88A46B-C57F-7D64-54B3-1D5B335CB291}"/>
              </a:ext>
            </a:extLst>
          </p:cNvPr>
          <p:cNvSpPr/>
          <p:nvPr/>
        </p:nvSpPr>
        <p:spPr>
          <a:xfrm>
            <a:off x="8046720" y="1645920"/>
            <a:ext cx="3200400" cy="1097280"/>
          </a:xfrm>
          <a:prstGeom prst="roundRect">
            <a:avLst/>
          </a:prstGeom>
          <a:solidFill>
            <a:srgbClr val="1E3A8A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>
              <a:defRPr sz="1800" b="1">
                <a:solidFill>
                  <a:srgbClr val="FBBF24"/>
                </a:solidFill>
              </a:defRPr>
            </a:pPr>
            <a:r>
              <a:t>Executive</a:t>
            </a:r>
            <a:br/>
            <a:r>
              <a:t>Summary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Natural Language</a:t>
            </a:r>
            <a:br/>
            <a:r>
              <a:t>Recommendation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B37A62E-EEDE-377F-CCC3-7BE85D4D890C}"/>
              </a:ext>
            </a:extLst>
          </p:cNvPr>
          <p:cNvSpPr/>
          <p:nvPr/>
        </p:nvSpPr>
        <p:spPr>
          <a:xfrm>
            <a:off x="8046720" y="3200400"/>
            <a:ext cx="3200400" cy="1097280"/>
          </a:xfrm>
          <a:prstGeom prst="roundRect">
            <a:avLst/>
          </a:prstGeom>
          <a:solidFill>
            <a:srgbClr val="1E3A8A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>
              <a:defRPr sz="1800" b="1">
                <a:solidFill>
                  <a:srgbClr val="FBBF24"/>
                </a:solidFill>
              </a:defRPr>
            </a:pPr>
            <a:r>
              <a:t>Final</a:t>
            </a:r>
            <a:br/>
            <a:r>
              <a:t>Recommendation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APPROVE/REJECT</a:t>
            </a:r>
            <a:br/>
            <a:r>
              <a:t>+ Next Steps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F992AC2-2678-6CA2-4D8B-970355C635E8}"/>
              </a:ext>
            </a:extLst>
          </p:cNvPr>
          <p:cNvSpPr/>
          <p:nvPr/>
        </p:nvSpPr>
        <p:spPr>
          <a:xfrm>
            <a:off x="8046720" y="4846320"/>
            <a:ext cx="3200400" cy="731520"/>
          </a:xfrm>
          <a:prstGeom prst="roundRect">
            <a:avLst/>
          </a:prstGeom>
          <a:solidFill>
            <a:srgbClr val="1E3A8A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>
              <a:defRPr sz="1800" b="1">
                <a:solidFill>
                  <a:srgbClr val="FBBF24"/>
                </a:solidFill>
              </a:defRPr>
            </a:pPr>
            <a:r>
              <a:t>Compliance Log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GxP Audit Trail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FA8414F-8CBD-BEE8-A08B-F450ED0E9AE9}"/>
              </a:ext>
            </a:extLst>
          </p:cNvPr>
          <p:cNvSpPr/>
          <p:nvPr/>
        </p:nvSpPr>
        <p:spPr>
          <a:xfrm>
            <a:off x="6309360" y="4846320"/>
            <a:ext cx="1645920" cy="640080"/>
          </a:xfrm>
          <a:prstGeom prst="roundRect">
            <a:avLst/>
          </a:prstGeom>
          <a:solidFill>
            <a:srgbClr val="334155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Commodity</a:t>
            </a:r>
            <a:br/>
            <a:r>
              <a:t>Prices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Fixed Constants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FC4D441-3C50-8FB9-AA02-D7B30B43B606}"/>
              </a:ext>
            </a:extLst>
          </p:cNvPr>
          <p:cNvSpPr/>
          <p:nvPr/>
        </p:nvSpPr>
        <p:spPr>
          <a:xfrm>
            <a:off x="4217670" y="4779083"/>
            <a:ext cx="1645920" cy="640080"/>
          </a:xfrm>
          <a:prstGeom prst="roundRect">
            <a:avLst/>
          </a:prstGeom>
          <a:solidFill>
            <a:srgbClr val="334155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Mock Risk DB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Supplier Data</a:t>
            </a:r>
          </a:p>
        </p:txBody>
      </p:sp>
      <p:cxnSp>
        <p:nvCxnSpPr>
          <p:cNvPr id="17" name="Connector 16">
            <a:extLst>
              <a:ext uri="{FF2B5EF4-FFF2-40B4-BE49-F238E27FC236}">
                <a16:creationId xmlns:a16="http://schemas.microsoft.com/office/drawing/2014/main" id="{4694FD38-EDE7-1CFC-2902-0A60CDDA5A89}"/>
              </a:ext>
            </a:extLst>
          </p:cNvPr>
          <p:cNvCxnSpPr>
            <a:cxnSpLocks/>
            <a:stCxn id="5" idx="3"/>
            <a:endCxn id="4" idx="2"/>
          </p:cNvCxnSpPr>
          <p:nvPr/>
        </p:nvCxnSpPr>
        <p:spPr>
          <a:xfrm flipV="1">
            <a:off x="5486400" y="1834179"/>
            <a:ext cx="1216026" cy="268941"/>
          </a:xfrm>
          <a:prstGeom prst="line">
            <a:avLst/>
          </a:prstGeom>
          <a:ln w="3810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>
            <a:extLst>
              <a:ext uri="{FF2B5EF4-FFF2-40B4-BE49-F238E27FC236}">
                <a16:creationId xmlns:a16="http://schemas.microsoft.com/office/drawing/2014/main" id="{C33C8C71-53BA-BF95-7422-EC3247D30897}"/>
              </a:ext>
            </a:extLst>
          </p:cNvPr>
          <p:cNvCxnSpPr/>
          <p:nvPr/>
        </p:nvCxnSpPr>
        <p:spPr>
          <a:xfrm flipH="1">
            <a:off x="1463040" y="2560320"/>
            <a:ext cx="2880360" cy="640080"/>
          </a:xfrm>
          <a:prstGeom prst="line">
            <a:avLst/>
          </a:prstGeom>
          <a:ln w="3810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>
            <a:extLst>
              <a:ext uri="{FF2B5EF4-FFF2-40B4-BE49-F238E27FC236}">
                <a16:creationId xmlns:a16="http://schemas.microsoft.com/office/drawing/2014/main" id="{34C69036-6AD3-1EFD-AFAA-AD59CF4611B9}"/>
              </a:ext>
            </a:extLst>
          </p:cNvPr>
          <p:cNvCxnSpPr/>
          <p:nvPr/>
        </p:nvCxnSpPr>
        <p:spPr>
          <a:xfrm flipH="1">
            <a:off x="3931920" y="2560320"/>
            <a:ext cx="411480" cy="640080"/>
          </a:xfrm>
          <a:prstGeom prst="line">
            <a:avLst/>
          </a:prstGeom>
          <a:ln w="3810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>
            <a:extLst>
              <a:ext uri="{FF2B5EF4-FFF2-40B4-BE49-F238E27FC236}">
                <a16:creationId xmlns:a16="http://schemas.microsoft.com/office/drawing/2014/main" id="{25E6B429-6757-46FB-0874-876DDAB4C96C}"/>
              </a:ext>
            </a:extLst>
          </p:cNvPr>
          <p:cNvCxnSpPr/>
          <p:nvPr/>
        </p:nvCxnSpPr>
        <p:spPr>
          <a:xfrm>
            <a:off x="4343400" y="2560320"/>
            <a:ext cx="2057400" cy="640080"/>
          </a:xfrm>
          <a:prstGeom prst="line">
            <a:avLst/>
          </a:prstGeom>
          <a:ln w="3810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>
            <a:extLst>
              <a:ext uri="{FF2B5EF4-FFF2-40B4-BE49-F238E27FC236}">
                <a16:creationId xmlns:a16="http://schemas.microsoft.com/office/drawing/2014/main" id="{F29B463B-7EF4-044B-FB6D-3B774588C729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1097280" y="4297680"/>
            <a:ext cx="365760" cy="548640"/>
          </a:xfrm>
          <a:prstGeom prst="line">
            <a:avLst/>
          </a:prstGeom>
          <a:ln w="3810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>
            <a:extLst>
              <a:ext uri="{FF2B5EF4-FFF2-40B4-BE49-F238E27FC236}">
                <a16:creationId xmlns:a16="http://schemas.microsoft.com/office/drawing/2014/main" id="{EAA950D2-AF61-011D-20AB-9257F6372632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>
            <a:off x="3931920" y="4297680"/>
            <a:ext cx="1108710" cy="481403"/>
          </a:xfrm>
          <a:prstGeom prst="line">
            <a:avLst/>
          </a:prstGeom>
          <a:ln w="3810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>
            <a:extLst>
              <a:ext uri="{FF2B5EF4-FFF2-40B4-BE49-F238E27FC236}">
                <a16:creationId xmlns:a16="http://schemas.microsoft.com/office/drawing/2014/main" id="{9C750971-2CD7-8F2A-D5F7-36B3DCB751D8}"/>
              </a:ext>
            </a:extLst>
          </p:cNvPr>
          <p:cNvCxnSpPr>
            <a:cxnSpLocks/>
            <a:stCxn id="6" idx="2"/>
            <a:endCxn id="13" idx="1"/>
          </p:cNvCxnSpPr>
          <p:nvPr/>
        </p:nvCxnSpPr>
        <p:spPr>
          <a:xfrm>
            <a:off x="1463040" y="4297680"/>
            <a:ext cx="1737360" cy="2011680"/>
          </a:xfrm>
          <a:prstGeom prst="line">
            <a:avLst/>
          </a:prstGeom>
          <a:ln w="3810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>
            <a:extLst>
              <a:ext uri="{FF2B5EF4-FFF2-40B4-BE49-F238E27FC236}">
                <a16:creationId xmlns:a16="http://schemas.microsoft.com/office/drawing/2014/main" id="{DBBCF311-0586-1F45-D5D8-9B87E2219AE2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6400800" y="4297680"/>
            <a:ext cx="731520" cy="548640"/>
          </a:xfrm>
          <a:prstGeom prst="line">
            <a:avLst/>
          </a:prstGeom>
          <a:ln w="38100">
            <a:solidFill>
              <a:srgbClr val="FFC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>
            <a:extLst>
              <a:ext uri="{FF2B5EF4-FFF2-40B4-BE49-F238E27FC236}">
                <a16:creationId xmlns:a16="http://schemas.microsoft.com/office/drawing/2014/main" id="{53B975E0-8FC7-EFD3-6766-DFFCC76F5791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1463040" y="4297680"/>
            <a:ext cx="1474470" cy="556708"/>
          </a:xfrm>
          <a:prstGeom prst="line">
            <a:avLst/>
          </a:prstGeom>
          <a:ln w="3810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>
            <a:extLst>
              <a:ext uri="{FF2B5EF4-FFF2-40B4-BE49-F238E27FC236}">
                <a16:creationId xmlns:a16="http://schemas.microsoft.com/office/drawing/2014/main" id="{E9CF48CE-E9C1-8138-253A-B575CB90F53F}"/>
              </a:ext>
            </a:extLst>
          </p:cNvPr>
          <p:cNvCxnSpPr/>
          <p:nvPr/>
        </p:nvCxnSpPr>
        <p:spPr>
          <a:xfrm>
            <a:off x="3931920" y="4297680"/>
            <a:ext cx="411480" cy="1645920"/>
          </a:xfrm>
          <a:prstGeom prst="line">
            <a:avLst/>
          </a:prstGeom>
          <a:ln w="3810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>
            <a:extLst>
              <a:ext uri="{FF2B5EF4-FFF2-40B4-BE49-F238E27FC236}">
                <a16:creationId xmlns:a16="http://schemas.microsoft.com/office/drawing/2014/main" id="{DB81E011-BB02-6F56-A66B-7258464B2526}"/>
              </a:ext>
            </a:extLst>
          </p:cNvPr>
          <p:cNvCxnSpPr/>
          <p:nvPr/>
        </p:nvCxnSpPr>
        <p:spPr>
          <a:xfrm flipH="1">
            <a:off x="5029200" y="4297680"/>
            <a:ext cx="1371600" cy="1645920"/>
          </a:xfrm>
          <a:prstGeom prst="line">
            <a:avLst/>
          </a:prstGeom>
          <a:ln w="38100">
            <a:solidFill>
              <a:srgbClr val="FFC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>
            <a:extLst>
              <a:ext uri="{FF2B5EF4-FFF2-40B4-BE49-F238E27FC236}">
                <a16:creationId xmlns:a16="http://schemas.microsoft.com/office/drawing/2014/main" id="{1196E55B-E528-D6B0-C9D8-C15EDE30F3E6}"/>
              </a:ext>
            </a:extLst>
          </p:cNvPr>
          <p:cNvCxnSpPr>
            <a:cxnSpLocks/>
          </p:cNvCxnSpPr>
          <p:nvPr/>
        </p:nvCxnSpPr>
        <p:spPr>
          <a:xfrm flipV="1">
            <a:off x="5486400" y="6231365"/>
            <a:ext cx="6373906" cy="77995"/>
          </a:xfrm>
          <a:prstGeom prst="line">
            <a:avLst/>
          </a:prstGeom>
          <a:ln w="38100">
            <a:solidFill>
              <a:srgbClr val="92D05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>
            <a:extLst>
              <a:ext uri="{FF2B5EF4-FFF2-40B4-BE49-F238E27FC236}">
                <a16:creationId xmlns:a16="http://schemas.microsoft.com/office/drawing/2014/main" id="{6C554F1D-DAF3-F257-F9D6-9EA6F98AFE0E}"/>
              </a:ext>
            </a:extLst>
          </p:cNvPr>
          <p:cNvCxnSpPr>
            <a:cxnSpLocks/>
            <a:endCxn id="4" idx="2"/>
          </p:cNvCxnSpPr>
          <p:nvPr/>
        </p:nvCxnSpPr>
        <p:spPr>
          <a:xfrm flipH="1" flipV="1">
            <a:off x="6702426" y="1834179"/>
            <a:ext cx="1344294" cy="360381"/>
          </a:xfrm>
          <a:prstGeom prst="line">
            <a:avLst/>
          </a:prstGeom>
          <a:ln w="3810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557F287E-E37E-60A1-A514-94B1BFAA040A}"/>
              </a:ext>
            </a:extLst>
          </p:cNvPr>
          <p:cNvSpPr txBox="1"/>
          <p:nvPr/>
        </p:nvSpPr>
        <p:spPr>
          <a:xfrm>
            <a:off x="5788026" y="6472074"/>
            <a:ext cx="617985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CBD5E1"/>
                </a:solidFill>
              </a:defRPr>
            </a:pPr>
            <a:r>
              <a:rPr dirty="0"/>
              <a:t>⚡ Processing Time: ~10-15 seconds  |  🔒 </a:t>
            </a:r>
            <a:r>
              <a:rPr dirty="0" err="1"/>
              <a:t>GxP</a:t>
            </a:r>
            <a:r>
              <a:rPr dirty="0"/>
              <a:t> Compliant  |  📊 Weighted Scoring: 40/30/30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CD38DBA-CB20-2A16-A317-7A70C97C4C43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11247120" y="2194560"/>
            <a:ext cx="613186" cy="0"/>
          </a:xfrm>
          <a:prstGeom prst="line">
            <a:avLst/>
          </a:prstGeom>
          <a:ln w="38100">
            <a:solidFill>
              <a:srgbClr val="92D05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B317854-751C-9BE5-EAA6-6D0226A86518}"/>
              </a:ext>
            </a:extLst>
          </p:cNvPr>
          <p:cNvCxnSpPr>
            <a:cxnSpLocks/>
          </p:cNvCxnSpPr>
          <p:nvPr/>
        </p:nvCxnSpPr>
        <p:spPr>
          <a:xfrm>
            <a:off x="11860306" y="2194560"/>
            <a:ext cx="0" cy="4036805"/>
          </a:xfrm>
          <a:prstGeom prst="line">
            <a:avLst/>
          </a:prstGeom>
          <a:ln w="38100">
            <a:solidFill>
              <a:srgbClr val="92D05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B0F715BB-A967-4D39-C404-DC4835633E87}"/>
              </a:ext>
            </a:extLst>
          </p:cNvPr>
          <p:cNvCxnSpPr>
            <a:stCxn id="15" idx="3"/>
          </p:cNvCxnSpPr>
          <p:nvPr/>
        </p:nvCxnSpPr>
        <p:spPr>
          <a:xfrm flipV="1">
            <a:off x="11247120" y="3749039"/>
            <a:ext cx="613186" cy="1"/>
          </a:xfrm>
          <a:prstGeom prst="line">
            <a:avLst/>
          </a:prstGeom>
          <a:ln w="38100">
            <a:solidFill>
              <a:srgbClr val="92D05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02919597-FCA8-79CB-1F4B-F6ABF4DB875F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11247120" y="5212080"/>
            <a:ext cx="613186" cy="0"/>
          </a:xfrm>
          <a:prstGeom prst="line">
            <a:avLst/>
          </a:prstGeom>
          <a:ln w="38100">
            <a:solidFill>
              <a:srgbClr val="92D05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996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</TotalTime>
  <Words>229</Words>
  <Application>Microsoft Office PowerPoint</Application>
  <PresentationFormat>Custom</PresentationFormat>
  <Paragraphs>57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Vivek Hans</cp:lastModifiedBy>
  <cp:revision>3</cp:revision>
  <dcterms:created xsi:type="dcterms:W3CDTF">2013-01-27T09:14:16Z</dcterms:created>
  <dcterms:modified xsi:type="dcterms:W3CDTF">2026-01-30T15:16:11Z</dcterms:modified>
  <cp:category/>
</cp:coreProperties>
</file>